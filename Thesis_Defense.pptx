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3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4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COMSOL simulated (kHz)</c:v>
                </c:pt>
              </c:strCache>
            </c:strRef>
          </c:tx>
          <c:spPr>
            <a:solidFill>
              <a:srgbClr val="0B254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626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1st flexural</c:v>
                  </c:pt>
                  <c:pt idx="1">
                    <c:v>2nd flexural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3.1</c:v>
                </c:pt>
                <c:pt idx="1">
                  <c:v>30.44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Vibrometer measured (kHz)</c:v>
                </c:pt>
              </c:strCache>
            </c:strRef>
          </c:tx>
          <c:spPr>
            <a:solidFill>
              <a:srgbClr val="F2A54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626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1st flexural</c:v>
                  </c:pt>
                  <c:pt idx="1">
                    <c:v>2nd flexural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3.18</c:v>
                </c:pt>
                <c:pt idx="1">
                  <c:v>31.59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626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70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C708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C7080"/>
                    </a:solidFill>
                    <a:latin typeface="Arial"/>
                  </a:rPr>
                  <a:t>Frequency (kHz)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70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6263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2545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B2545"/>
                </a:solidFill>
                <a:latin typeface="Arial"/>
              </a:rPr>
              <a:t>140 µm slit, 29 µm from frame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Before milling (kHz)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626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1st mode</c:v>
                  </c:pt>
                  <c:pt idx="1">
                    <c:v>2nd mode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3.18</c:v>
                </c:pt>
                <c:pt idx="1">
                  <c:v>31.59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 milling (kHz)</c:v>
                </c:pt>
              </c:strCache>
            </c:strRef>
          </c:tx>
          <c:spPr>
            <a:solidFill>
              <a:srgbClr val="E8583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626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1st mode</c:v>
                  </c:pt>
                  <c:pt idx="1">
                    <c:v>2nd mode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2.654</c:v>
                </c:pt>
                <c:pt idx="1">
                  <c:v>25.949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626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70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70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6263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Resonant frequency f₁ (kHz)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626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A1</c:v>
                  </c:pt>
                  <c:pt idx="1">
                    <c:v>A2</c:v>
                  </c:pt>
                  <c:pt idx="2">
                    <c:v>A3</c:v>
                  </c:pt>
                  <c:pt idx="3">
                    <c:v>A4</c:v>
                  </c:pt>
                  <c:pt idx="4">
                    <c:v>C1</c:v>
                  </c:pt>
                  <c:pt idx="5">
                    <c:v>C2</c:v>
                  </c:pt>
                  <c:pt idx="6">
                    <c:v>C3</c:v>
                  </c:pt>
                  <c:pt idx="7">
                    <c:v>C4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0.54</c:v>
                </c:pt>
                <c:pt idx="1">
                  <c:v>1.06</c:v>
                </c:pt>
                <c:pt idx="2">
                  <c:v>1.75</c:v>
                </c:pt>
                <c:pt idx="3">
                  <c:v>3.53</c:v>
                </c:pt>
                <c:pt idx="4">
                  <c:v>5.35</c:v>
                </c:pt>
                <c:pt idx="5">
                  <c:v>7.11</c:v>
                </c:pt>
                <c:pt idx="6">
                  <c:v>9.25</c:v>
                </c:pt>
                <c:pt idx="7">
                  <c:v>14.9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626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70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70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E8583F"/>
                </a:solidFill>
                <a:latin typeface="Arial"/>
              </a:defRPr>
            </a:pPr>
            <a:r>
              <a:rPr sz="1200" b="0" i="0" u="none" strike="noStrike">
                <a:solidFill>
                  <a:srgbClr val="E8583F"/>
                </a:solidFill>
                <a:latin typeface="Arial"/>
              </a:rPr>
              <a:t>Target: &lt; 10 µg/√Hz at 1 kHz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NEA (µg/√Hz)</c:v>
                </c:pt>
              </c:strCache>
            </c:strRef>
          </c:tx>
          <c:spPr>
            <a:solidFill>
              <a:srgbClr val="0B254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626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A1</c:v>
                  </c:pt>
                  <c:pt idx="1">
                    <c:v>A2</c:v>
                  </c:pt>
                  <c:pt idx="2">
                    <c:v>A3</c:v>
                  </c:pt>
                  <c:pt idx="3">
                    <c:v>A4</c:v>
                  </c:pt>
                  <c:pt idx="4">
                    <c:v>C1</c:v>
                  </c:pt>
                  <c:pt idx="5">
                    <c:v>C2</c:v>
                  </c:pt>
                  <c:pt idx="6">
                    <c:v>C3</c:v>
                  </c:pt>
                  <c:pt idx="7">
                    <c:v>C4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1.29</c:v>
                </c:pt>
                <c:pt idx="1">
                  <c:v>2.69</c:v>
                </c:pt>
                <c:pt idx="2">
                  <c:v>4.84</c:v>
                </c:pt>
                <c:pt idx="3">
                  <c:v>82.2</c:v>
                </c:pt>
                <c:pt idx="4">
                  <c:v>32.5</c:v>
                </c:pt>
                <c:pt idx="5">
                  <c:v>39.6</c:v>
                </c:pt>
                <c:pt idx="6">
                  <c:v>64</c:v>
                </c:pt>
                <c:pt idx="7">
                  <c:v>237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626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70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70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1965960"/>
            <a:ext cx="2926080" cy="2926080"/>
          </a:xfrm>
          <a:prstGeom prst="ellipse">
            <a:avLst/>
          </a:prstGeom>
          <a:ln w="15240">
            <a:solidFill>
              <a:srgbClr val="1C7293">
                <a:alpha val="6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74075" y="1440180"/>
            <a:ext cx="3977640" cy="3977640"/>
          </a:xfrm>
          <a:prstGeom prst="ellipse">
            <a:avLst/>
          </a:prstGeom>
          <a:ln w="15240">
            <a:solidFill>
              <a:srgbClr val="1C7293">
                <a:alpha val="57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48295" y="914400"/>
            <a:ext cx="5029200" cy="5029200"/>
          </a:xfrm>
          <a:prstGeom prst="ellipse">
            <a:avLst/>
          </a:prstGeom>
          <a:ln w="15240">
            <a:solidFill>
              <a:srgbClr val="1C7293">
                <a:alpha val="49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22515" y="388620"/>
            <a:ext cx="6080760" cy="6080760"/>
          </a:xfrm>
          <a:prstGeom prst="ellipse">
            <a:avLst/>
          </a:prstGeom>
          <a:ln w="15240">
            <a:solidFill>
              <a:srgbClr val="1C7293">
                <a:alpha val="41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96735" y="-137160"/>
            <a:ext cx="7132320" cy="7132320"/>
          </a:xfrm>
          <a:prstGeom prst="ellipse">
            <a:avLst/>
          </a:prstGeom>
          <a:ln w="15240">
            <a:solidFill>
              <a:srgbClr val="1C7293">
                <a:alpha val="33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051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THESIS DEFENSE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508760"/>
            <a:ext cx="8778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of Piezoelectric Vibroacoustic</a:t>
            </a:r>
            <a:endParaRPr lang="en-US" sz="3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MEMS Sensors for Fully Implantable</a:t>
            </a:r>
            <a:endParaRPr lang="en-US" sz="3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Cochlear Implants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731520" y="3794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i="1" dirty="0">
                <a:solidFill>
                  <a:srgbClr val="5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tonotopic ScAlN bimorph cantilever array for passive, DSP-free frequency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i="1" dirty="0">
                <a:solidFill>
                  <a:srgbClr val="5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across the speech intelligibility band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4709160"/>
            <a:ext cx="5029200" cy="0"/>
          </a:xfrm>
          <a:prstGeom prst="line">
            <a:avLst/>
          </a:prstGeom>
          <a:noFill/>
          <a:ln w="9525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4892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Ismail Musa Hamid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BME Faculty of Electrical Engineering and Informatics — Dept. of Electron Devices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1520" y="56235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Supervisors:  </a:t>
            </a:r>
            <a:pPr indent="0" marL="0">
              <a:buNone/>
            </a:pPr>
            <a:r>
              <a:rPr lang="en-US" sz="1150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Andras Pappe, DSc (BME VIK EET)   •   János Volk, DSc (HUN-REN EK-MFA)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31520" y="6035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Budapest, 2026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MOTIVATION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Hearing loss is a growing global burden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A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709928"/>
            <a:ext cx="324612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2.5B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2687422"/>
            <a:ext cx="3246120" cy="412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affected by hearing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16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projected by 2050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25112" y="160020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A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462272" y="1709928"/>
            <a:ext cx="324612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700M+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462272" y="2687422"/>
            <a:ext cx="3246120" cy="412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require dedicated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16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hearing intervention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01584" y="160020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A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38744" y="1709928"/>
            <a:ext cx="324612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5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#3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238744" y="2687422"/>
            <a:ext cx="3246120" cy="412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global cause of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16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lived with disability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11091672" cy="2148840"/>
          </a:xfrm>
          <a:prstGeom prst="roundRect">
            <a:avLst>
              <a:gd name="adj" fmla="val 3404"/>
            </a:avLst>
          </a:prstGeom>
          <a:solidFill>
            <a:srgbClr val="0B2545"/>
          </a:solidFill>
          <a:ln/>
        </p:spPr>
      </p:sp>
      <p:sp>
        <p:nvSpPr>
          <p:cNvPr id="14" name="Shape 12"/>
          <p:cNvSpPr/>
          <p:nvPr/>
        </p:nvSpPr>
        <p:spPr>
          <a:xfrm>
            <a:off x="868680" y="411480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988" y="4293108"/>
            <a:ext cx="329184" cy="329184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828800" y="40690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cochlear implants all rely on externally worn hardware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828800" y="4480560"/>
            <a:ext cx="9418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C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processor imposes bulk, battery maintenance, and moisture sensitivity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C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CI recipients wear processors only ~10 hrs/day on average — well below clinical recommendation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C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 remove devices during exercise or heat; 37% frequently forget to wear them entirely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Piezoelectric Vibroacoustic MEMS Sensors for FICI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MOTIVATION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vision: a fully implantable cochlear implant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CI — requires external hardware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572768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5C70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74520"/>
            <a:ext cx="1572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</a:t>
            </a:r>
            <a:endParaRPr lang="en-US" sz="10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9696" y="2162556"/>
            <a:ext cx="201168" cy="2011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377440" y="1874520"/>
            <a:ext cx="1572768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E8583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377440" y="1874520"/>
            <a:ext cx="1572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6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Microphone</a:t>
            </a:r>
            <a:endParaRPr lang="en-US" sz="10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8496" y="2162556"/>
            <a:ext cx="201168" cy="20116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206240" y="1874520"/>
            <a:ext cx="1572768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E8583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206240" y="1874520"/>
            <a:ext cx="1572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DSP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6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</a:t>
            </a:r>
            <a:endParaRPr lang="en-US" sz="10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7296" y="2162556"/>
            <a:ext cx="201168" cy="201168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6035040" y="1874520"/>
            <a:ext cx="1572768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E8583F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6035040" y="1874520"/>
            <a:ext cx="1572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6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Transmitter</a:t>
            </a:r>
            <a:endParaRPr lang="en-US" sz="10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6096" y="2162556"/>
            <a:ext cx="201168" cy="201168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7863840" y="1874520"/>
            <a:ext cx="1572768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7863840" y="1874520"/>
            <a:ext cx="1572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Implanted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6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</a:t>
            </a:r>
            <a:endParaRPr lang="en-US" sz="105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54896" y="2162556"/>
            <a:ext cx="201168" cy="201168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9692640" y="1874520"/>
            <a:ext cx="1572768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9692640" y="1874520"/>
            <a:ext cx="1572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Cochlear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6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</a:t>
            </a:r>
            <a:endParaRPr lang="en-US" sz="1050" dirty="0"/>
          </a:p>
        </p:txBody>
      </p:sp>
      <p:sp>
        <p:nvSpPr>
          <p:cNvPr id="22" name="Text 15"/>
          <p:cNvSpPr/>
          <p:nvPr/>
        </p:nvSpPr>
        <p:spPr>
          <a:xfrm>
            <a:off x="548640" y="27614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processor — worn behind the ear — DSP consumes major share of power budget</a:t>
            </a:r>
            <a:endParaRPr lang="en-US" sz="1050" dirty="0"/>
          </a:p>
        </p:txBody>
      </p:sp>
      <p:sp>
        <p:nvSpPr>
          <p:cNvPr id="23" name="Text 16"/>
          <p:cNvSpPr/>
          <p:nvPr/>
        </p:nvSpPr>
        <p:spPr>
          <a:xfrm>
            <a:off x="548640" y="37033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FICI — fully implanted, passive, DSP-free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548640" y="4160520"/>
            <a:ext cx="1847088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5C7080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548640" y="4160520"/>
            <a:ext cx="1847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</a:t>
            </a:r>
            <a:endParaRPr lang="en-US" sz="105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14016" y="4448556"/>
            <a:ext cx="201168" cy="201168"/>
          </a:xfrm>
          <a:prstGeom prst="rect">
            <a:avLst/>
          </a:prstGeom>
        </p:spPr>
      </p:pic>
      <p:sp>
        <p:nvSpPr>
          <p:cNvPr id="27" name="Shape 19"/>
          <p:cNvSpPr/>
          <p:nvPr/>
        </p:nvSpPr>
        <p:spPr>
          <a:xfrm>
            <a:off x="2651760" y="4160520"/>
            <a:ext cx="1847088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F2A541"/>
            </a:solidFill>
            <a:prstDash val="solid"/>
          </a:ln>
        </p:spPr>
      </p:sp>
      <p:sp>
        <p:nvSpPr>
          <p:cNvPr id="28" name="Text 20"/>
          <p:cNvSpPr/>
          <p:nvPr/>
        </p:nvSpPr>
        <p:spPr>
          <a:xfrm>
            <a:off x="2651760" y="4160520"/>
            <a:ext cx="1847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Ossicular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6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</a:t>
            </a:r>
            <a:endParaRPr lang="en-US" sz="1050" dirty="0"/>
          </a:p>
        </p:txBody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17136" y="4448556"/>
            <a:ext cx="201168" cy="201168"/>
          </a:xfrm>
          <a:prstGeom prst="rect">
            <a:avLst/>
          </a:prstGeom>
        </p:spPr>
      </p:pic>
      <p:sp>
        <p:nvSpPr>
          <p:cNvPr id="30" name="Shape 21"/>
          <p:cNvSpPr/>
          <p:nvPr/>
        </p:nvSpPr>
        <p:spPr>
          <a:xfrm>
            <a:off x="4754880" y="4160520"/>
            <a:ext cx="1847088" cy="777240"/>
          </a:xfrm>
          <a:prstGeom prst="roundRect">
            <a:avLst>
              <a:gd name="adj" fmla="val 7059"/>
            </a:avLst>
          </a:prstGeom>
          <a:solidFill>
            <a:srgbClr val="0B2545"/>
          </a:solidFill>
          <a:ln w="19050">
            <a:solidFill>
              <a:srgbClr val="F2A541"/>
            </a:solidFill>
            <a:prstDash val="solid"/>
          </a:ln>
        </p:spPr>
      </p:sp>
      <p:sp>
        <p:nvSpPr>
          <p:cNvPr id="31" name="Text 22"/>
          <p:cNvSpPr/>
          <p:nvPr/>
        </p:nvSpPr>
        <p:spPr>
          <a:xfrm>
            <a:off x="4754880" y="4160520"/>
            <a:ext cx="1847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MEMS Piezo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Cantilever Array</a:t>
            </a:r>
            <a:endParaRPr lang="en-US" sz="1050" dirty="0"/>
          </a:p>
        </p:txBody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0256" y="4448556"/>
            <a:ext cx="201168" cy="201168"/>
          </a:xfrm>
          <a:prstGeom prst="rect">
            <a:avLst/>
          </a:prstGeom>
        </p:spPr>
      </p:pic>
      <p:sp>
        <p:nvSpPr>
          <p:cNvPr id="33" name="Shape 23"/>
          <p:cNvSpPr/>
          <p:nvPr/>
        </p:nvSpPr>
        <p:spPr>
          <a:xfrm>
            <a:off x="6858000" y="4160520"/>
            <a:ext cx="1847088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34" name="Text 24"/>
          <p:cNvSpPr/>
          <p:nvPr/>
        </p:nvSpPr>
        <p:spPr>
          <a:xfrm>
            <a:off x="6858000" y="4160520"/>
            <a:ext cx="1847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Implanted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6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</a:t>
            </a:r>
            <a:endParaRPr lang="en-US" sz="1050" dirty="0"/>
          </a:p>
        </p:txBody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23376" y="4448556"/>
            <a:ext cx="201168" cy="201168"/>
          </a:xfrm>
          <a:prstGeom prst="rect">
            <a:avLst/>
          </a:prstGeom>
        </p:spPr>
      </p:pic>
      <p:sp>
        <p:nvSpPr>
          <p:cNvPr id="36" name="Shape 25"/>
          <p:cNvSpPr/>
          <p:nvPr/>
        </p:nvSpPr>
        <p:spPr>
          <a:xfrm>
            <a:off x="8961120" y="4160520"/>
            <a:ext cx="1847088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37" name="Text 26"/>
          <p:cNvSpPr/>
          <p:nvPr/>
        </p:nvSpPr>
        <p:spPr>
          <a:xfrm>
            <a:off x="8961120" y="4160520"/>
            <a:ext cx="1847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Cochlear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6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</a:t>
            </a:r>
            <a:endParaRPr lang="en-US" sz="1050" dirty="0"/>
          </a:p>
        </p:txBody>
      </p:sp>
      <p:sp>
        <p:nvSpPr>
          <p:cNvPr id="38" name="Text 27"/>
          <p:cNvSpPr/>
          <p:nvPr/>
        </p:nvSpPr>
        <p:spPr>
          <a:xfrm>
            <a:off x="548640" y="50474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components subcutaneous — passive mechanical frequency separation — no digital signal processing</a:t>
            </a:r>
            <a:endParaRPr lang="en-US" sz="1050" dirty="0"/>
          </a:p>
        </p:txBody>
      </p:sp>
      <p:sp>
        <p:nvSpPr>
          <p:cNvPr id="39" name="Shape 28"/>
          <p:cNvSpPr/>
          <p:nvPr/>
        </p:nvSpPr>
        <p:spPr>
          <a:xfrm>
            <a:off x="548640" y="5623560"/>
            <a:ext cx="5394960" cy="685800"/>
          </a:xfrm>
          <a:prstGeom prst="roundRect">
            <a:avLst>
              <a:gd name="adj" fmla="val 10667"/>
            </a:avLst>
          </a:prstGeom>
          <a:solidFill>
            <a:srgbClr val="F5F8F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0" name="Text 29"/>
          <p:cNvSpPr/>
          <p:nvPr/>
        </p:nvSpPr>
        <p:spPr>
          <a:xfrm>
            <a:off x="777240" y="562356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5×5 mm footprint   </a:t>
            </a:r>
            <a:pPr indent="0" marL="0">
              <a:buNone/>
            </a:pPr>
            <a:r>
              <a:rPr lang="en-US" sz="11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</a:t>
            </a:r>
            <a:pPr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25 mg</a:t>
            </a:r>
            <a:pPr indent="0" marL="0">
              <a:buNone/>
            </a:pPr>
            <a:r>
              <a:rPr lang="en-US" sz="11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mass — middle-ear cavity constraint (~1 cm³)</a:t>
            </a:r>
            <a:endParaRPr lang="en-US" sz="1150" dirty="0"/>
          </a:p>
        </p:txBody>
      </p:sp>
      <p:sp>
        <p:nvSpPr>
          <p:cNvPr id="41" name="Shape 30"/>
          <p:cNvSpPr/>
          <p:nvPr/>
        </p:nvSpPr>
        <p:spPr>
          <a:xfrm>
            <a:off x="6172200" y="5623560"/>
            <a:ext cx="5468112" cy="685800"/>
          </a:xfrm>
          <a:prstGeom prst="roundRect">
            <a:avLst>
              <a:gd name="adj" fmla="val 10667"/>
            </a:avLst>
          </a:prstGeom>
          <a:solidFill>
            <a:srgbClr val="F5F8F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2" name="Text 31"/>
          <p:cNvSpPr/>
          <p:nvPr/>
        </p:nvSpPr>
        <p:spPr>
          <a:xfrm>
            <a:off x="6400800" y="562356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Piezoelectric sensing: </a:t>
            </a:r>
            <a:pPr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bias power, </a:t>
            </a:r>
            <a:pPr indent="0" marL="0">
              <a:buNone/>
            </a:pPr>
            <a:r>
              <a:rPr lang="en-US" sz="11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of resonant elements gives passive channel separation</a:t>
            </a:r>
            <a:endParaRPr lang="en-US" sz="1150" dirty="0"/>
          </a:p>
        </p:txBody>
      </p:sp>
      <p:sp>
        <p:nvSpPr>
          <p:cNvPr id="43" name="Text 3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Piezoelectric Vibroacoustic MEMS Sensors for FICI</a:t>
            </a:r>
            <a:endParaRPr lang="en-US" sz="900" dirty="0"/>
          </a:p>
        </p:txBody>
      </p:sp>
      <p:sp>
        <p:nvSpPr>
          <p:cNvPr id="44" name="Text 33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MOTIVATION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Thesis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071931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80136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567" y="1932127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2404872"/>
            <a:ext cx="3209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modeling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49808" y="2715768"/>
            <a:ext cx="32095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COMSOL FEM model of the commercial Vesper VA-1200 MEMS accelerometer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4379976" y="160020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071931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81144" y="180136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1903" y="1932127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81144" y="2404872"/>
            <a:ext cx="3209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characterization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581144" y="2715768"/>
            <a:ext cx="32095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Scanning laser vibrometry of cantilever elements, correlated against FEM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8211312" y="160020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071931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412480" y="180136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3239" y="1932127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12480" y="2404872"/>
            <a:ext cx="3209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 frequency tuning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412480" y="2715768"/>
            <a:ext cx="32095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FIB-based tuning to realize a cochlea-inspired, speech-range filter bank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548640" y="3785616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071931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49808" y="3986784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567" y="4117543"/>
            <a:ext cx="241402" cy="24140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9808" y="4590288"/>
            <a:ext cx="3209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sensor design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49808" y="4901184"/>
            <a:ext cx="32095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Parametric FEM optimization of a piezoelectric bimorph cantilever array</a:t>
            </a:r>
            <a:endParaRPr lang="en-US" sz="1080" dirty="0"/>
          </a:p>
        </p:txBody>
      </p:sp>
      <p:sp>
        <p:nvSpPr>
          <p:cNvPr id="24" name="Shape 18"/>
          <p:cNvSpPr/>
          <p:nvPr/>
        </p:nvSpPr>
        <p:spPr>
          <a:xfrm>
            <a:off x="4379976" y="3785616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071931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81144" y="3986784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1903" y="4117543"/>
            <a:ext cx="241402" cy="24140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81144" y="4590288"/>
            <a:ext cx="3209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Fabrication planning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581144" y="4901184"/>
            <a:ext cx="32095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MEMS process flow definition and photomask layout for cleanroom build</a:t>
            </a:r>
            <a:endParaRPr lang="en-US" sz="1080" dirty="0"/>
          </a:p>
        </p:txBody>
      </p:sp>
      <p:sp>
        <p:nvSpPr>
          <p:cNvPr id="29" name="Shape 22"/>
          <p:cNvSpPr/>
          <p:nvPr/>
        </p:nvSpPr>
        <p:spPr>
          <a:xfrm>
            <a:off x="8211312" y="3785616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071931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412480" y="3986784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3239" y="4117543"/>
            <a:ext cx="241402" cy="24140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412480" y="4590288"/>
            <a:ext cx="3209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Cleanroom participation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8412480" y="4901184"/>
            <a:ext cx="32095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 processing (AlN sputtering, patterning/etching) and documentation</a:t>
            </a:r>
            <a:endParaRPr lang="en-US" sz="1080" dirty="0"/>
          </a:p>
        </p:txBody>
      </p:sp>
      <p:sp>
        <p:nvSpPr>
          <p:cNvPr id="34" name="Text 2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Piezoelectric Vibroacoustic MEMS Sensors for FICI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BIOLOGICAL INSPIRATION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Tonotopy: the cochlea's passive frequency 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651760" y="3383280"/>
            <a:ext cx="822960" cy="822960"/>
          </a:xfrm>
          <a:prstGeom prst="ellipse">
            <a:avLst/>
          </a:prstGeom>
          <a:ln w="27940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08860" y="3040380"/>
            <a:ext cx="1508760" cy="1508760"/>
          </a:xfrm>
          <a:prstGeom prst="ellipse">
            <a:avLst/>
          </a:prstGeom>
          <a:ln w="27940">
            <a:solidFill>
              <a:srgbClr val="F2A54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65960" y="2697480"/>
            <a:ext cx="2194560" cy="2194560"/>
          </a:xfrm>
          <a:prstGeom prst="ellipse">
            <a:avLst/>
          </a:prstGeom>
          <a:ln w="27940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23060" y="2354580"/>
            <a:ext cx="2880360" cy="2880360"/>
          </a:xfrm>
          <a:prstGeom prst="ellipse">
            <a:avLst/>
          </a:prstGeom>
          <a:ln w="27940">
            <a:solidFill>
              <a:srgbClr val="F2A54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80160" y="2011680"/>
            <a:ext cx="3566160" cy="3566160"/>
          </a:xfrm>
          <a:prstGeom prst="ellipse">
            <a:avLst/>
          </a:prstGeom>
          <a:ln w="27940">
            <a:solidFill>
              <a:srgbClr val="1C729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37260" y="1668780"/>
            <a:ext cx="4251960" cy="4251960"/>
          </a:xfrm>
          <a:prstGeom prst="ellipse">
            <a:avLst/>
          </a:prstGeom>
          <a:ln w="27940">
            <a:solidFill>
              <a:srgbClr val="F2A54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0" y="363016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800600" y="5394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→ low f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60120" y="16459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→ high f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217920" y="1691640"/>
            <a:ext cx="5394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16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Basilar membrane: narrow &amp; stiff near the base, wide &amp; compliant toward the apex</a:t>
            </a:r>
            <a:endParaRPr lang="en-US" sz="1400" dirty="0"/>
          </a:p>
          <a:p>
            <a:pPr marL="177800" indent="-177800">
              <a:lnSpc>
                <a:spcPct val="110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16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travelling wave peaks at a location set by stimulus frequency — high frequencies near the base, low frequencies near the apex</a:t>
            </a:r>
            <a:endParaRPr lang="en-US" sz="1400" dirty="0"/>
          </a:p>
          <a:p>
            <a:pPr marL="177800" indent="-177800">
              <a:lnSpc>
                <a:spcPct val="110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16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~35 mm membrane length resolves ~3,500 discrete frequency channels, spanning 20 Hz – 20 kHz</a:t>
            </a:r>
            <a:endParaRPr lang="en-US" sz="1400" dirty="0"/>
          </a:p>
          <a:p>
            <a:pPr marL="177800" indent="-177800">
              <a:lnSpc>
                <a:spcPct val="110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16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decomposition is purely mechanical — no active computation required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17920" y="525780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0B2545"/>
          </a:solidFill>
          <a:ln/>
        </p:spPr>
      </p:sp>
      <p:sp>
        <p:nvSpPr>
          <p:cNvPr id="15" name="Text 13"/>
          <p:cNvSpPr/>
          <p:nvPr/>
        </p:nvSpPr>
        <p:spPr>
          <a:xfrm>
            <a:off x="6446520" y="52578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 carried into Ch. 5: 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C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single biological membrane with a discrete array of MEMS cantilevers, each geometrically tuned to a distinct frequency band.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Piezoelectric Vibroacoustic MEMS Sensors for FICI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BIOLOGICAL INSPIRATION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piezoelectric MEMS, and why AlN / ScAlN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3949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6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effect: mechanical strain → electric charge; zero bias power required</a:t>
            </a:r>
            <a:endParaRPr lang="en-US" sz="1400" dirty="0"/>
          </a:p>
          <a:p>
            <a:pPr marL="177800" indent="-1778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6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Cantilever arrays give passive mechanical frequency separation — array output is already channel-separated</a:t>
            </a:r>
            <a:endParaRPr lang="en-US" sz="1400" dirty="0"/>
          </a:p>
          <a:p>
            <a:pPr marL="177800" indent="-1778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6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AlN/ScAlN: CMOS-compatible, no poling step, sputter-deposited below 400°C</a:t>
            </a:r>
            <a:endParaRPr lang="en-US" sz="1400" dirty="0"/>
          </a:p>
          <a:p>
            <a:pPr marL="177800" indent="-1778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6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 alloying boosts d₃₁ / e₃₁ substantially over plain AlN, without sacrificing process compatibility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709160"/>
          <a:ext cx="5394960" cy="1417320"/>
        </p:xfrm>
        <a:graphic>
          <a:graphicData uri="http://schemas.openxmlformats.org/drawingml/2006/table">
            <a:tbl>
              <a:tblPr/>
              <a:tblGrid>
                <a:gridCol w="1554480"/>
                <a:gridCol w="2377440"/>
                <a:gridCol w="1463040"/>
              </a:tblGrid>
              <a:tr h="3543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Material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CMOS-compatible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Poling needed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AlN / ScAlN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PZT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Challenging (Pb, 600–700°C)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PVDF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(polymer)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309360" y="16459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Unimorph vs. Bimorph cross-section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0" y="2148840"/>
            <a:ext cx="4206240" cy="256032"/>
          </a:xfrm>
          <a:prstGeom prst="rect">
            <a:avLst/>
          </a:prstGeom>
          <a:solidFill>
            <a:srgbClr val="1C729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698480" y="21305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electrode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400800" y="2404872"/>
            <a:ext cx="4206240" cy="384048"/>
          </a:xfrm>
          <a:prstGeom prst="rect">
            <a:avLst/>
          </a:prstGeom>
          <a:solidFill>
            <a:srgbClr val="F2A54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698480" y="24048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Piezo layer (AlN)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400800" y="2788920"/>
            <a:ext cx="4206240" cy="256032"/>
          </a:xfrm>
          <a:prstGeom prst="rect">
            <a:avLst/>
          </a:prstGeom>
          <a:solidFill>
            <a:srgbClr val="1C729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00800" y="3044952"/>
            <a:ext cx="4206240" cy="457200"/>
          </a:xfrm>
          <a:prstGeom prst="rect">
            <a:avLst/>
          </a:prstGeom>
          <a:solidFill>
            <a:srgbClr val="C7D3D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698480" y="304495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substrate (Si)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400800" y="357530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Unimorph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400800" y="4160520"/>
            <a:ext cx="4206240" cy="219456"/>
          </a:xfrm>
          <a:prstGeom prst="rect">
            <a:avLst/>
          </a:prstGeom>
          <a:solidFill>
            <a:srgbClr val="1C729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400800" y="4379976"/>
            <a:ext cx="4206240" cy="365760"/>
          </a:xfrm>
          <a:prstGeom prst="rect">
            <a:avLst/>
          </a:prstGeom>
          <a:solidFill>
            <a:srgbClr val="F2A54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400800" y="4745736"/>
            <a:ext cx="4206240" cy="182880"/>
          </a:xfrm>
          <a:prstGeom prst="rect">
            <a:avLst/>
          </a:prstGeom>
          <a:solidFill>
            <a:srgbClr val="1C729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698480" y="474573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axis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400800" y="4928616"/>
            <a:ext cx="4206240" cy="365760"/>
          </a:xfrm>
          <a:prstGeom prst="rect">
            <a:avLst/>
          </a:prstGeom>
          <a:solidFill>
            <a:srgbClr val="F2A54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400800" y="5294376"/>
            <a:ext cx="4206240" cy="219456"/>
          </a:xfrm>
          <a:prstGeom prst="rect">
            <a:avLst/>
          </a:prstGeom>
          <a:solidFill>
            <a:srgbClr val="1C729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00800" y="5586984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Bimorph (selected) — layers poled oppositely, outputs add constructively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Piezoelectric Vibroacoustic MEMS Sensors for FICI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BENCHMARK MODELING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 device: the Vesper VA-1200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6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AlN piezoelectric MEMS voice accelerometer, 2.9 × 2.76 × 0.9 mm package</a:t>
            </a:r>
            <a:endParaRPr lang="en-US" sz="1350" dirty="0"/>
          </a:p>
          <a:p>
            <a:pPr marL="177800" indent="-1778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6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Twelve-element cantilever array connected in series (SEM-verified)</a:t>
            </a:r>
            <a:endParaRPr lang="en-US" sz="1350" dirty="0"/>
          </a:p>
          <a:p>
            <a:pPr marL="177800" indent="-1778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6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Bimorph stack: two ScAlN films (~0.5 µm each) between three Mo electrodes</a:t>
            </a:r>
            <a:endParaRPr lang="en-US" sz="1350" dirty="0"/>
          </a:p>
          <a:p>
            <a:pPr marL="177800" indent="-1778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6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Geometry reconstructed from SEM tracing → imported into COMSOL as extruded solid</a:t>
            </a:r>
            <a:endParaRPr lang="en-US" sz="13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251960"/>
          <a:ext cx="5486400" cy="1737360"/>
        </p:xfrm>
        <a:graphic>
          <a:graphicData uri="http://schemas.openxmlformats.org/drawingml/2006/table">
            <a:tbl>
              <a:tblPr/>
              <a:tblGrid>
                <a:gridCol w="2377440"/>
                <a:gridCol w="3108960"/>
              </a:tblGrid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Sensitivity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−45 dBV/g @ 250 Hz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Resonant peak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 kHz (datasheet)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Noise floor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 mg rms, A-weighted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Supply current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160 µA @ 1.8 V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0" y="1645920"/>
            <a:ext cx="5257800" cy="4343400"/>
          </a:xfrm>
          <a:prstGeom prst="roundRect">
            <a:avLst>
              <a:gd name="adj" fmla="val 1684"/>
            </a:avLst>
          </a:prstGeom>
          <a:solidFill>
            <a:srgbClr val="0B2545"/>
          </a:solidFill>
          <a:ln/>
        </p:spPr>
      </p:sp>
      <p:sp>
        <p:nvSpPr>
          <p:cNvPr id="7" name="Text 4"/>
          <p:cNvSpPr/>
          <p:nvPr/>
        </p:nvSpPr>
        <p:spPr>
          <a:xfrm>
            <a:off x="6675120" y="1828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Reconstructed cantilever geometry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675120" y="2377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670 µm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732520" y="24048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cantilever length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675120" y="299923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1.15 µm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8732520" y="302666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bimorph stack thickness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675120" y="3621024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ScAlN, x=0.4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8732520" y="364845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 concentration used in FEM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675120" y="4242816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 / Al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8732520" y="42702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electrode / proof mass material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675120" y="4910328"/>
            <a:ext cx="4709160" cy="0"/>
          </a:xfrm>
          <a:prstGeom prst="line">
            <a:avLst/>
          </a:prstGeom>
          <a:noFill/>
          <a:ln w="9525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675120" y="5047488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B9C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characterization: package decapsulation → SEM imaging → EDS composition analysis → profile tracing → COMSOL solid model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Piezoelectric Vibroacoustic MEMS Sensors for FICI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BENCHMARK MODELING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COMSOL FEM validated against experiment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55778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400800" y="1600200"/>
            <a:ext cx="25146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A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537960" y="1709928"/>
            <a:ext cx="224028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2.6%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6537960" y="2528316"/>
            <a:ext cx="22402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mode deviation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537960" y="2848356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3.10 vs 3.18 kHz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9098280" y="1600200"/>
            <a:ext cx="25146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A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9235440" y="1709928"/>
            <a:ext cx="224028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3.6%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9235440" y="2528316"/>
            <a:ext cx="22402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mode deviation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9235440" y="2848356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30.44 vs 31.59 kHz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400800" y="3429000"/>
            <a:ext cx="5212080" cy="1737360"/>
          </a:xfrm>
          <a:prstGeom prst="roundRect">
            <a:avLst>
              <a:gd name="adj" fmla="val 4211"/>
            </a:avLst>
          </a:prstGeom>
          <a:solidFill>
            <a:srgbClr val="0B2545"/>
          </a:solidFill>
          <a:ln/>
        </p:spPr>
      </p:sp>
      <p:sp>
        <p:nvSpPr>
          <p:cNvPr id="14" name="Text 11"/>
          <p:cNvSpPr/>
          <p:nvPr/>
        </p:nvSpPr>
        <p:spPr>
          <a:xfrm>
            <a:off x="6629400" y="356616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DC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AlN under-predicted sensitivity (0.17 mV/g); Sc₀.₄Al₀.₆N adopted → 5.6 mV/g, matching datasheet trend</a:t>
            </a:r>
            <a:endParaRPr lang="en-US" sz="110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DC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Series-connected 12-element array: simulated 5.28 mV/g → −45.55 dBV/g vs. −45 dBV/g datasheet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48640" y="53492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validated to within ~3.5% — used as the design tool for all subsequent optimization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Piezoelectric Vibroacoustic MEMS Sensors for FICI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POST-FABRICATION TUNING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FIB milling as a mechanical frequency-tuning tool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4864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6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140 µm longitudinal slit was FIB-milled into one VA-1200 cantilever (Design 7)</a:t>
            </a:r>
            <a:endParaRPr lang="en-US" sz="1350" dirty="0"/>
          </a:p>
          <a:p>
            <a:pPr marL="177800" indent="-1778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6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Slit reduces cross-sectional 2nd moment of area → lowers bending stiffness without materially changing modal mass</a:t>
            </a:r>
            <a:endParaRPr lang="en-US" sz="1350" dirty="0"/>
          </a:p>
          <a:p>
            <a:pPr marL="177800" indent="-1778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6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with scanning laser vibrometry before / after milling</a:t>
            </a:r>
            <a:endParaRPr lang="en-US" sz="1350" dirty="0"/>
          </a:p>
          <a:p>
            <a:pPr marL="177800" indent="-1778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6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spatial selectivity: modified element resolves spectrally from untouched neighbours — the filterbank principle in practice</a:t>
            </a:r>
            <a:endParaRPr lang="en-US" sz="13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309360" y="1600200"/>
          <a:ext cx="534924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074920"/>
            <a:ext cx="35661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A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85800" y="518464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−16.5%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685800" y="5711342"/>
            <a:ext cx="3291840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mode shift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85800" y="593079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3.18 → 2.654 kHz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251960" y="5074920"/>
            <a:ext cx="35661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A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389120" y="518464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4.3%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4389120" y="5711342"/>
            <a:ext cx="3291840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 vs. measured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389120" y="593079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7 deviation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7955280" y="5074920"/>
            <a:ext cx="35661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A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092440" y="518464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2.07–3.49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8092440" y="5711342"/>
            <a:ext cx="3291840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kHz design span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8092440" y="593079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geometric variants simulated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Piezoelectric Vibroacoustic MEMS Sensors for FICI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NOVEL SENSOR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Eight-element tonotopic bimorph filterbank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element is a pure ScAlN bimorph cantilever, resonance set by beam length and Si proof-mass geometry — operating below resonance in its flat, linear response region.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 — low frequency (fabricated)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1691640" cy="566928"/>
          </a:xfrm>
          <a:prstGeom prst="roundRect">
            <a:avLst>
              <a:gd name="adj" fmla="val 9677"/>
            </a:avLst>
          </a:prstGeom>
          <a:solidFill>
            <a:srgbClr val="071931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560320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  0.54 kHz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331720" y="2560320"/>
            <a:ext cx="1691640" cy="566928"/>
          </a:xfrm>
          <a:prstGeom prst="roundRect">
            <a:avLst>
              <a:gd name="adj" fmla="val 9677"/>
            </a:avLst>
          </a:prstGeom>
          <a:solidFill>
            <a:srgbClr val="071931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31720" y="2560320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 1.06 kHz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114800" y="2560320"/>
            <a:ext cx="1691640" cy="566928"/>
          </a:xfrm>
          <a:prstGeom prst="roundRect">
            <a:avLst>
              <a:gd name="adj" fmla="val 9677"/>
            </a:avLst>
          </a:prstGeom>
          <a:solidFill>
            <a:srgbClr val="071931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0" y="2560320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  1.75 kHz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897880" y="2560320"/>
            <a:ext cx="1691640" cy="566928"/>
          </a:xfrm>
          <a:prstGeom prst="roundRect">
            <a:avLst>
              <a:gd name="adj" fmla="val 9677"/>
            </a:avLst>
          </a:prstGeom>
          <a:solidFill>
            <a:srgbClr val="071931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97880" y="2560320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  3.53 kHz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818120" y="2578608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B9C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µm beam + variable 150–450 µm Si proof mass (A4: 700 µm beam, no mass)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" y="3429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 — high frequency (design)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3794760"/>
            <a:ext cx="1691640" cy="566928"/>
          </a:xfrm>
          <a:prstGeom prst="roundRect">
            <a:avLst>
              <a:gd name="adj" fmla="val 9677"/>
            </a:avLst>
          </a:prstGeom>
          <a:solidFill>
            <a:srgbClr val="07193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794760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  5.35 kHz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331720" y="3794760"/>
            <a:ext cx="1691640" cy="566928"/>
          </a:xfrm>
          <a:prstGeom prst="roundRect">
            <a:avLst>
              <a:gd name="adj" fmla="val 9677"/>
            </a:avLst>
          </a:prstGeom>
          <a:solidFill>
            <a:srgbClr val="07193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31720" y="3794760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  7.11 kHz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114800" y="3794760"/>
            <a:ext cx="1691640" cy="566928"/>
          </a:xfrm>
          <a:prstGeom prst="roundRect">
            <a:avLst>
              <a:gd name="adj" fmla="val 9677"/>
            </a:avLst>
          </a:prstGeom>
          <a:solidFill>
            <a:srgbClr val="07193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0" y="3794760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  9.25 kHz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897880" y="3794760"/>
            <a:ext cx="1691640" cy="566928"/>
          </a:xfrm>
          <a:prstGeom prst="roundRect">
            <a:avLst>
              <a:gd name="adj" fmla="val 9677"/>
            </a:avLst>
          </a:prstGeom>
          <a:solidFill>
            <a:srgbClr val="07193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97880" y="3794760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  14.90 kHz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818120" y="3813048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B9C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160–340 µm short beams with thin 75 µm proof mass for compact high-f channels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48640" y="489204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C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layer stack: 0.5 µm AlN, 300 µm beam width across all 8 elements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C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ordering set by geometric ratios — robust to absolute ScAlN material uncertainty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Piezoelectric Vibroacoustic MEMS Sensors for FICI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NOVEL SENSOR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Analytical model precedes the FEM sweep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Euler-Bernoulli beam theory (Erturk &amp; Inman, 2008; Rao, 2019) for the symmetric ScAlN bimorph: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486400" cy="658368"/>
          </a:xfrm>
          <a:prstGeom prst="roundRect">
            <a:avLst>
              <a:gd name="adj" fmla="val 8333"/>
            </a:avLst>
          </a:prstGeom>
          <a:solidFill>
            <a:srgbClr val="0B254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148840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k_eff = 2·w·E_p·t_p³ / L³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63640" y="2148840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stiffness — cubic in beam length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990088"/>
            <a:ext cx="5486400" cy="658368"/>
          </a:xfrm>
          <a:prstGeom prst="roundRect">
            <a:avLst>
              <a:gd name="adj" fmla="val 8333"/>
            </a:avLst>
          </a:prstGeom>
          <a:solidFill>
            <a:srgbClr val="0B2545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90088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f₁ = (1/2π)·√(k_eff / m_eff)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63640" y="2990088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 resonant frequency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831336"/>
            <a:ext cx="5486400" cy="658368"/>
          </a:xfrm>
          <a:prstGeom prst="roundRect">
            <a:avLst>
              <a:gd name="adj" fmla="val 8333"/>
            </a:avLst>
          </a:prstGeom>
          <a:solidFill>
            <a:srgbClr val="0B2545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831336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S_v,A ∝ M_tip · L / (w · t_p)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63640" y="3831336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Sensitivity, elements WITH proof mass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672584"/>
            <a:ext cx="5486400" cy="658368"/>
          </a:xfrm>
          <a:prstGeom prst="roundRect">
            <a:avLst>
              <a:gd name="adj" fmla="val 8333"/>
            </a:avLst>
          </a:prstGeom>
          <a:solidFill>
            <a:srgbClr val="0B254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672584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S_v,B ∝ L²  (independent of w, t_p)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63640" y="4672584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Sensitivity, elements WITHOUT proof mass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5532120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F5F8F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553212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proof-mass-free elements, adding piezoelectric volume increases both charge AND stiffness proportionally — sensitivity depends only on beam length. Material e₃₁,f/E ratio, not cross-section, is the lever for these channels.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Piezoelectric Vibroacoustic MEMS Sensors for FICI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FILTERBANK PERFORMANCE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Filterbank spans the full speech intelligibility band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110642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074920"/>
            <a:ext cx="35661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A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85800" y="518464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0.29–8.05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685800" y="5711342"/>
            <a:ext cx="3291840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kHz usable bandwidth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85800" y="593079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sub-resonance, f₁/1.85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251960" y="5074920"/>
            <a:ext cx="35661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A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389120" y="518464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0.54–14.90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4389120" y="5711342"/>
            <a:ext cx="3291840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kHz resonance span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389120" y="593079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8 elements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7955280" y="5074920"/>
            <a:ext cx="35661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A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8092440" y="518464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300–8000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8092440" y="5711342"/>
            <a:ext cx="3291840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Hz published target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8092440" y="593079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 substantially met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Piezoelectric Vibroacoustic MEMS Sensors for FICI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FILTERBANK PERFORMANCE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Noise-equivalent acceleration vs. published target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667512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06640" y="1554480"/>
            <a:ext cx="4206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A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543800" y="1664208"/>
            <a:ext cx="393192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1.27–3.92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7543800" y="2376526"/>
            <a:ext cx="3931920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µg/√Hz for A1–A3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543800" y="2659990"/>
            <a:ext cx="3931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2–8× below the 10 µg/√Hz target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7406640" y="3108960"/>
            <a:ext cx="4206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A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543800" y="3218688"/>
            <a:ext cx="393192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7543800" y="3931006"/>
            <a:ext cx="3931920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quality factor Q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543800" y="4214470"/>
            <a:ext cx="3931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VA-1200 vibrometry, air damping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7406640" y="4663440"/>
            <a:ext cx="4206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A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543800" y="4773168"/>
            <a:ext cx="393192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5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A4–C4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7543800" y="5273345"/>
            <a:ext cx="3931920" cy="231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electronic-noise-limited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7543800" y="5483657"/>
            <a:ext cx="3931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readout ASIC is the design lever here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Piezoelectric Vibroacoustic MEMS Sensors for FICI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FILTERBANK PERFORMANCE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 with published design targets</a:t>
            </a:r>
            <a:endParaRPr lang="en-US" sz="3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3749040"/>
        </p:xfrm>
        <a:graphic>
          <a:graphicData uri="http://schemas.openxmlformats.org/drawingml/2006/table">
            <a:tbl>
              <a:tblPr/>
              <a:tblGrid>
                <a:gridCol w="2560320"/>
                <a:gridCol w="2651760"/>
                <a:gridCol w="3502152"/>
                <a:gridCol w="2377440"/>
              </a:tblGrid>
              <a:tr h="5355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Frequency range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 – 8 kHz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 – 8.05 kHz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7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Substantially met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Sensitivity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– 10 mV/g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0.048 – 9.98 mV/g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7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 for A1–C2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Noise floor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10 µg/√Hz @ 1kHz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1.27 – 3.92 µg/√Hz (A1–A3)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7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Met, lower band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Resonant freq.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– 8 kHz multiband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 – 14.90 kHz, 8 ch.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7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mass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sub-mg proof masses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0.078 – 47.23 µg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7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Die footprint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 mm² sensing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2.03 mm² active area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B88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Partially met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53212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 sensitivity/noise shortfall reflects the fundamental sensitivity–bandwidth trade-off, not a limitation of the AlN bimorph mechanism itself.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Piezoelectric Vibroacoustic MEMS Sensors for FICI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FABRICATION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Twelve-step process, seven photomasks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764792" cy="960120"/>
          </a:xfrm>
          <a:prstGeom prst="roundRect">
            <a:avLst>
              <a:gd name="adj" fmla="val 5714"/>
            </a:avLst>
          </a:prstGeom>
          <a:solidFill>
            <a:srgbClr val="071931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2002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2258568"/>
            <a:ext cx="1673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Substrate prep +</a:t>
            </a:r>
            <a:endParaRPr lang="en-US" sz="93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SiO₂</a:t>
            </a:r>
            <a:endParaRPr lang="en-US" sz="930" dirty="0"/>
          </a:p>
        </p:txBody>
      </p:sp>
      <p:sp>
        <p:nvSpPr>
          <p:cNvPr id="7" name="Shape 5"/>
          <p:cNvSpPr/>
          <p:nvPr/>
        </p:nvSpPr>
        <p:spPr>
          <a:xfrm>
            <a:off x="2423160" y="1965960"/>
            <a:ext cx="1764792" cy="960120"/>
          </a:xfrm>
          <a:prstGeom prst="roundRect">
            <a:avLst>
              <a:gd name="adj" fmla="val 5714"/>
            </a:avLst>
          </a:prstGeom>
          <a:solidFill>
            <a:srgbClr val="071931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96312" y="2002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468880" y="2258568"/>
            <a:ext cx="1673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Mo</a:t>
            </a:r>
            <a:endParaRPr lang="en-US" sz="93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electrode (M1)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4297680" y="1965960"/>
            <a:ext cx="1764792" cy="960120"/>
          </a:xfrm>
          <a:prstGeom prst="roundRect">
            <a:avLst>
              <a:gd name="adj" fmla="val 5714"/>
            </a:avLst>
          </a:prstGeom>
          <a:solidFill>
            <a:srgbClr val="071931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70832" y="2002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343400" y="2258568"/>
            <a:ext cx="1673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AlN layer 1</a:t>
            </a:r>
            <a:endParaRPr lang="en-US" sz="93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sputter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6172200" y="1965960"/>
            <a:ext cx="1764792" cy="960120"/>
          </a:xfrm>
          <a:prstGeom prst="roundRect">
            <a:avLst>
              <a:gd name="adj" fmla="val 5714"/>
            </a:avLst>
          </a:prstGeom>
          <a:solidFill>
            <a:srgbClr val="071931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45352" y="2002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17920" y="2258568"/>
            <a:ext cx="1673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Mo</a:t>
            </a:r>
            <a:endParaRPr lang="en-US" sz="93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electrode (M2)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8046720" y="1965960"/>
            <a:ext cx="1764792" cy="960120"/>
          </a:xfrm>
          <a:prstGeom prst="roundRect">
            <a:avLst>
              <a:gd name="adj" fmla="val 5714"/>
            </a:avLst>
          </a:prstGeom>
          <a:solidFill>
            <a:srgbClr val="071931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19872" y="2002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092440" y="2258568"/>
            <a:ext cx="1673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AlN layer 2</a:t>
            </a:r>
            <a:endParaRPr lang="en-US" sz="93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sputter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9921240" y="1965960"/>
            <a:ext cx="1764792" cy="960120"/>
          </a:xfrm>
          <a:prstGeom prst="roundRect">
            <a:avLst>
              <a:gd name="adj" fmla="val 5714"/>
            </a:avLst>
          </a:prstGeom>
          <a:solidFill>
            <a:srgbClr val="071931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994392" y="2002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966960" y="2258568"/>
            <a:ext cx="1673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Mo</a:t>
            </a:r>
            <a:endParaRPr lang="en-US" sz="93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electrode (M3)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548640" y="3182112"/>
            <a:ext cx="1764792" cy="960120"/>
          </a:xfrm>
          <a:prstGeom prst="roundRect">
            <a:avLst>
              <a:gd name="adj" fmla="val 5714"/>
            </a:avLst>
          </a:prstGeom>
          <a:solidFill>
            <a:srgbClr val="07193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" y="32186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4360" y="3474720"/>
            <a:ext cx="1673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Frontside AlN</a:t>
            </a:r>
            <a:endParaRPr lang="en-US" sz="93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 etch (M4)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2423160" y="3182112"/>
            <a:ext cx="1764792" cy="960120"/>
          </a:xfrm>
          <a:prstGeom prst="roundRect">
            <a:avLst>
              <a:gd name="adj" fmla="val 5714"/>
            </a:avLst>
          </a:prstGeom>
          <a:solidFill>
            <a:srgbClr val="07193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96312" y="32186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468880" y="3474720"/>
            <a:ext cx="1673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contact</a:t>
            </a:r>
            <a:endParaRPr lang="en-US" sz="93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pads (M5)</a:t>
            </a:r>
            <a:endParaRPr lang="en-US" sz="930" dirty="0"/>
          </a:p>
        </p:txBody>
      </p:sp>
      <p:sp>
        <p:nvSpPr>
          <p:cNvPr id="28" name="Shape 26"/>
          <p:cNvSpPr/>
          <p:nvPr/>
        </p:nvSpPr>
        <p:spPr>
          <a:xfrm>
            <a:off x="4297680" y="3182112"/>
            <a:ext cx="1764792" cy="960120"/>
          </a:xfrm>
          <a:prstGeom prst="roundRect">
            <a:avLst>
              <a:gd name="adj" fmla="val 5714"/>
            </a:avLst>
          </a:prstGeom>
          <a:solidFill>
            <a:srgbClr val="07193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2186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343400" y="3474720"/>
            <a:ext cx="1673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Backside Al</a:t>
            </a:r>
            <a:endParaRPr lang="en-US" sz="93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mask (M6)</a:t>
            </a:r>
            <a:endParaRPr lang="en-US" sz="930" dirty="0"/>
          </a:p>
        </p:txBody>
      </p:sp>
      <p:sp>
        <p:nvSpPr>
          <p:cNvPr id="31" name="Shape 29"/>
          <p:cNvSpPr/>
          <p:nvPr/>
        </p:nvSpPr>
        <p:spPr>
          <a:xfrm>
            <a:off x="6172200" y="3182112"/>
            <a:ext cx="1764792" cy="960120"/>
          </a:xfrm>
          <a:prstGeom prst="roundRect">
            <a:avLst>
              <a:gd name="adj" fmla="val 5714"/>
            </a:avLst>
          </a:prstGeom>
          <a:solidFill>
            <a:srgbClr val="07193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45352" y="32186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17920" y="3474720"/>
            <a:ext cx="1673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Backside PR</a:t>
            </a:r>
            <a:endParaRPr lang="en-US" sz="93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(M7)</a:t>
            </a:r>
            <a:endParaRPr lang="en-US" sz="930" dirty="0"/>
          </a:p>
        </p:txBody>
      </p:sp>
      <p:sp>
        <p:nvSpPr>
          <p:cNvPr id="34" name="Shape 32"/>
          <p:cNvSpPr/>
          <p:nvPr/>
        </p:nvSpPr>
        <p:spPr>
          <a:xfrm>
            <a:off x="8046720" y="3182112"/>
            <a:ext cx="1764792" cy="960120"/>
          </a:xfrm>
          <a:prstGeom prst="roundRect">
            <a:avLst>
              <a:gd name="adj" fmla="val 5714"/>
            </a:avLst>
          </a:prstGeom>
          <a:solidFill>
            <a:srgbClr val="07193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119872" y="32186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092440" y="3474720"/>
            <a:ext cx="1673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Bosch</a:t>
            </a:r>
            <a:endParaRPr lang="en-US" sz="93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(2-depth)</a:t>
            </a:r>
            <a:endParaRPr lang="en-US" sz="930" dirty="0"/>
          </a:p>
        </p:txBody>
      </p:sp>
      <p:sp>
        <p:nvSpPr>
          <p:cNvPr id="37" name="Shape 35"/>
          <p:cNvSpPr/>
          <p:nvPr/>
        </p:nvSpPr>
        <p:spPr>
          <a:xfrm>
            <a:off x="9921240" y="3182112"/>
            <a:ext cx="1764792" cy="960120"/>
          </a:xfrm>
          <a:prstGeom prst="roundRect">
            <a:avLst>
              <a:gd name="adj" fmla="val 5714"/>
            </a:avLst>
          </a:prstGeom>
          <a:solidFill>
            <a:srgbClr val="07193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994392" y="32186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966960" y="3474720"/>
            <a:ext cx="1673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HF</a:t>
            </a:r>
            <a:endParaRPr lang="en-US" sz="93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</a:t>
            </a:r>
            <a:endParaRPr lang="en-US" sz="930" dirty="0"/>
          </a:p>
        </p:txBody>
      </p:sp>
      <p:sp>
        <p:nvSpPr>
          <p:cNvPr id="40" name="Shape 38"/>
          <p:cNvSpPr/>
          <p:nvPr/>
        </p:nvSpPr>
        <p:spPr>
          <a:xfrm>
            <a:off x="548640" y="534924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A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85800" y="5458968"/>
            <a:ext cx="329184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380 µm</a:t>
            </a:r>
            <a:endParaRPr lang="en-US" sz="3000" dirty="0"/>
          </a:p>
        </p:txBody>
      </p:sp>
      <p:sp>
        <p:nvSpPr>
          <p:cNvPr id="42" name="Text 40"/>
          <p:cNvSpPr/>
          <p:nvPr/>
        </p:nvSpPr>
        <p:spPr>
          <a:xfrm>
            <a:off x="685800" y="5959145"/>
            <a:ext cx="3291840" cy="231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DSP Si wafer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685800" y="6169457"/>
            <a:ext cx="3291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nm thermal SiO₂ etch stop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251960" y="534924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A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4389120" y="5458968"/>
            <a:ext cx="329184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 / ScAlN</a:t>
            </a:r>
            <a:endParaRPr lang="en-US" sz="3000" dirty="0"/>
          </a:p>
        </p:txBody>
      </p:sp>
      <p:sp>
        <p:nvSpPr>
          <p:cNvPr id="46" name="Text 44"/>
          <p:cNvSpPr/>
          <p:nvPr/>
        </p:nvSpPr>
        <p:spPr>
          <a:xfrm>
            <a:off x="4389120" y="5959145"/>
            <a:ext cx="3291840" cy="231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electrodes / piezo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4389120" y="6169457"/>
            <a:ext cx="3291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RF magnetron sputter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7955280" y="534924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A">
                <a:alpha val="12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8092440" y="5458968"/>
            <a:ext cx="329184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µm</a:t>
            </a:r>
            <a:endParaRPr lang="en-US" sz="3000" dirty="0"/>
          </a:p>
        </p:txBody>
      </p:sp>
      <p:sp>
        <p:nvSpPr>
          <p:cNvPr id="50" name="Text 48"/>
          <p:cNvSpPr/>
          <p:nvPr/>
        </p:nvSpPr>
        <p:spPr>
          <a:xfrm>
            <a:off x="8092440" y="5959145"/>
            <a:ext cx="3291840" cy="231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min. feature size</a:t>
            </a:r>
            <a:endParaRPr lang="en-US" sz="1250" dirty="0"/>
          </a:p>
        </p:txBody>
      </p:sp>
      <p:sp>
        <p:nvSpPr>
          <p:cNvPr id="51" name="Text 49"/>
          <p:cNvSpPr/>
          <p:nvPr/>
        </p:nvSpPr>
        <p:spPr>
          <a:xfrm>
            <a:off x="8092440" y="6169457"/>
            <a:ext cx="3291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5× above contact-aligner limit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Piezoelectric Vibroacoustic MEMS Sensors for FICI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FABRICATION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Photomask layout: 3.5 × 2.5 mm sensor die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12080" cy="3749040"/>
          </a:xfrm>
          <a:prstGeom prst="rect">
            <a:avLst/>
          </a:prstGeom>
          <a:solidFill>
            <a:srgbClr val="0B2545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011680"/>
            <a:ext cx="4572000" cy="3108960"/>
          </a:xfrm>
          <a:prstGeom prst="rect">
            <a:avLst/>
          </a:prstGeom>
          <a:solidFill>
            <a:srgbClr val="071931"/>
          </a:solidFill>
          <a:ln w="9525">
            <a:solidFill>
              <a:srgbClr val="1C7293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1051560" y="2194560"/>
            <a:ext cx="1737360" cy="502920"/>
          </a:xfrm>
          <a:prstGeom prst="rect">
            <a:avLst/>
          </a:prstGeom>
          <a:solidFill>
            <a:srgbClr val="1C729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520440" y="2194560"/>
            <a:ext cx="1737360" cy="502920"/>
          </a:xfrm>
          <a:prstGeom prst="rect">
            <a:avLst/>
          </a:prstGeom>
          <a:solidFill>
            <a:srgbClr val="F2A54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" y="3017520"/>
            <a:ext cx="1737360" cy="502920"/>
          </a:xfrm>
          <a:prstGeom prst="rect">
            <a:avLst/>
          </a:prstGeom>
          <a:solidFill>
            <a:srgbClr val="1C729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20440" y="3017520"/>
            <a:ext cx="1737360" cy="502920"/>
          </a:xfrm>
          <a:prstGeom prst="rect">
            <a:avLst/>
          </a:prstGeom>
          <a:solidFill>
            <a:srgbClr val="F2A54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51560" y="3840480"/>
            <a:ext cx="1737360" cy="502920"/>
          </a:xfrm>
          <a:prstGeom prst="rect">
            <a:avLst/>
          </a:prstGeom>
          <a:solidFill>
            <a:srgbClr val="1C729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20440" y="3840480"/>
            <a:ext cx="1737360" cy="502920"/>
          </a:xfrm>
          <a:prstGeom prst="rect">
            <a:avLst/>
          </a:prstGeom>
          <a:solidFill>
            <a:srgbClr val="F2A54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51560" y="4663440"/>
            <a:ext cx="1737360" cy="502920"/>
          </a:xfrm>
          <a:prstGeom prst="rect">
            <a:avLst/>
          </a:prstGeom>
          <a:solidFill>
            <a:srgbClr val="1C729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20440" y="4663440"/>
            <a:ext cx="1737360" cy="502920"/>
          </a:xfrm>
          <a:prstGeom prst="rect">
            <a:avLst/>
          </a:prstGeom>
          <a:solidFill>
            <a:srgbClr val="F2A54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5394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 (long beams)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20440" y="5394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 (short beams)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651760" y="324612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F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9F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cavity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8640" y="555040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 mm × 2.5 mm die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26480" y="1737360"/>
            <a:ext cx="55321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6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in CleWin, minimum feature size 10 µm (5× process margin)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6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3-pad electrode column per cantilever, 250 µm pitch, nested Au/via/Mo pad stack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6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µm cleavage flange for controlled die separation after HF release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6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transmission alignment for frontside-to-backside overlay (±5 µm budget)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26480" y="4617720"/>
            <a:ext cx="5532120" cy="868680"/>
          </a:xfrm>
          <a:prstGeom prst="roundRect">
            <a:avLst>
              <a:gd name="adj" fmla="val 8421"/>
            </a:avLst>
          </a:prstGeom>
          <a:solidFill>
            <a:srgbClr val="0B2545"/>
          </a:solidFill>
          <a:ln/>
        </p:spPr>
      </p:sp>
      <p:sp>
        <p:nvSpPr>
          <p:cNvPr id="20" name="Text 18"/>
          <p:cNvSpPr/>
          <p:nvPr/>
        </p:nvSpPr>
        <p:spPr>
          <a:xfrm>
            <a:off x="6355080" y="461772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at time of writing: 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C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set, process flow, and deposition qualification complete; device wafer fabrication planned as next step.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Piezoelectric Vibroacoustic MEMS Sensors for FICI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— SUMMARY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of contributions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1672" cy="749808"/>
          </a:xfrm>
          <a:prstGeom prst="roundRect">
            <a:avLst>
              <a:gd name="adj" fmla="val 9756"/>
            </a:avLst>
          </a:prstGeom>
          <a:solidFill>
            <a:srgbClr val="071931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810512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6369" y="1943649"/>
            <a:ext cx="245791" cy="24579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691640"/>
            <a:ext cx="3200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FEM framework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709160" y="1691640"/>
            <a:ext cx="6766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Benchmarked against VA-1200: 2.6% / 3.6% deviation on 1st / 2nd flexural modes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2578608"/>
            <a:ext cx="11091672" cy="749808"/>
          </a:xfrm>
          <a:prstGeom prst="roundRect">
            <a:avLst>
              <a:gd name="adj" fmla="val 9756"/>
            </a:avLst>
          </a:prstGeom>
          <a:solidFill>
            <a:srgbClr val="071931"/>
          </a:solidFill>
          <a:ln/>
        </p:spPr>
      </p:sp>
      <p:sp>
        <p:nvSpPr>
          <p:cNvPr id="10" name="Shape 7"/>
          <p:cNvSpPr/>
          <p:nvPr/>
        </p:nvSpPr>
        <p:spPr>
          <a:xfrm>
            <a:off x="713232" y="2697480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369" y="2830617"/>
            <a:ext cx="245791" cy="24579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2578608"/>
            <a:ext cx="3200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 frequency-trimming method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709160" y="2578608"/>
            <a:ext cx="6766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16.5% deterministic downshift via a single milled slit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465576"/>
            <a:ext cx="11091672" cy="749808"/>
          </a:xfrm>
          <a:prstGeom prst="roundRect">
            <a:avLst>
              <a:gd name="adj" fmla="val 9756"/>
            </a:avLst>
          </a:prstGeom>
          <a:solidFill>
            <a:srgbClr val="071931"/>
          </a:solidFill>
          <a:ln/>
        </p:spPr>
      </p:sp>
      <p:sp>
        <p:nvSpPr>
          <p:cNvPr id="15" name="Shape 11"/>
          <p:cNvSpPr/>
          <p:nvPr/>
        </p:nvSpPr>
        <p:spPr>
          <a:xfrm>
            <a:off x="713232" y="3584448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369" y="3717585"/>
            <a:ext cx="245791" cy="24579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3465576"/>
            <a:ext cx="3200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Closed-form analytical model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4709160" y="3465576"/>
            <a:ext cx="6766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Bimorph stiffness, mass, sensitivity relations — S ∝ L³, f₁ ∝ 1/L² trade-off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4352544"/>
            <a:ext cx="11091672" cy="749808"/>
          </a:xfrm>
          <a:prstGeom prst="roundRect">
            <a:avLst>
              <a:gd name="adj" fmla="val 9756"/>
            </a:avLst>
          </a:prstGeom>
          <a:solidFill>
            <a:srgbClr val="071931"/>
          </a:solidFill>
          <a:ln/>
        </p:spPr>
      </p:sp>
      <p:sp>
        <p:nvSpPr>
          <p:cNvPr id="20" name="Shape 15"/>
          <p:cNvSpPr/>
          <p:nvPr/>
        </p:nvSpPr>
        <p:spPr>
          <a:xfrm>
            <a:off x="713232" y="4471416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369" y="4604553"/>
            <a:ext cx="245791" cy="24579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4352544"/>
            <a:ext cx="3200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8-element tonotopic filterbank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4709160" y="4352544"/>
            <a:ext cx="6766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0.54–14.90 kHz resonance; NEA 1.29–4.84 µg/√Hz for the lower band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548640" y="5239512"/>
            <a:ext cx="11091672" cy="749808"/>
          </a:xfrm>
          <a:prstGeom prst="roundRect">
            <a:avLst>
              <a:gd name="adj" fmla="val 9756"/>
            </a:avLst>
          </a:prstGeom>
          <a:solidFill>
            <a:srgbClr val="071931"/>
          </a:solidFill>
          <a:ln/>
        </p:spPr>
      </p:sp>
      <p:sp>
        <p:nvSpPr>
          <p:cNvPr id="25" name="Shape 19"/>
          <p:cNvSpPr/>
          <p:nvPr/>
        </p:nvSpPr>
        <p:spPr>
          <a:xfrm>
            <a:off x="713232" y="5358384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369" y="5491521"/>
            <a:ext cx="245791" cy="245791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17320" y="5239512"/>
            <a:ext cx="3200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fabrication plan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709160" y="5239512"/>
            <a:ext cx="6766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12-step / 7-mask process defined and qualified for HUN-REN EK-MFA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Piezoelectric Vibroacoustic MEMS Sensors for FICI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— SUMMARY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and further development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5394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6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 used AlN, not ScAlN, material properties (deposition not yet characterized)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6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 element sensitivity falls below the 1 mV/g target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6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wafer fabrication has not yet commenced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263640" y="16002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263640" y="2011680"/>
            <a:ext cx="5394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6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the 12-step wafer run; verify resonances by vibrometry vs. FEM (±5% target)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6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e₃₁,f of sputtered ScAlN on calibration beams to remove the largest model uncertainty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6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Low-noise charge-amplifier ASIC (&lt; 1 µV/√Hz) to close the Group C sensitivity gap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6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 trimming look-up table for individual post-fabrication element correction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6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Vacuum packaging to raise Q by 3–5× and suppress thermomechanical noise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4114800"/>
            <a:ext cx="5394960" cy="1463040"/>
          </a:xfrm>
          <a:prstGeom prst="roundRect">
            <a:avLst>
              <a:gd name="adj" fmla="val 5000"/>
            </a:avLst>
          </a:prstGeom>
          <a:solidFill>
            <a:srgbClr val="0B2545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434340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4486046"/>
            <a:ext cx="263347" cy="263347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508760" y="4251960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DC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System-level path: readout ASIC (180 nm CMOS) + intracochlear stimulator; in-vivo validation in a deafened animal model before clinical translation.</a:t>
            </a:r>
            <a:endParaRPr lang="en-US" sz="1080" dirty="0"/>
          </a:p>
        </p:txBody>
      </p:sp>
      <p:sp>
        <p:nvSpPr>
          <p:cNvPr id="12" name="Text 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Piezoelectric Vibroacoustic MEMS Sensors for FICI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1965960"/>
            <a:ext cx="2926080" cy="2926080"/>
          </a:xfrm>
          <a:prstGeom prst="ellipse">
            <a:avLst/>
          </a:prstGeom>
          <a:ln w="15240">
            <a:solidFill>
              <a:srgbClr val="1C7293">
                <a:alpha val="6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74075" y="1440180"/>
            <a:ext cx="3977640" cy="3977640"/>
          </a:xfrm>
          <a:prstGeom prst="ellipse">
            <a:avLst/>
          </a:prstGeom>
          <a:ln w="15240">
            <a:solidFill>
              <a:srgbClr val="1C7293">
                <a:alpha val="57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48295" y="914400"/>
            <a:ext cx="5029200" cy="5029200"/>
          </a:xfrm>
          <a:prstGeom prst="ellipse">
            <a:avLst/>
          </a:prstGeom>
          <a:ln w="15240">
            <a:solidFill>
              <a:srgbClr val="1C7293">
                <a:alpha val="49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22515" y="388620"/>
            <a:ext cx="6080760" cy="6080760"/>
          </a:xfrm>
          <a:prstGeom prst="ellipse">
            <a:avLst/>
          </a:prstGeom>
          <a:ln w="15240">
            <a:solidFill>
              <a:srgbClr val="1C7293">
                <a:alpha val="41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96735" y="-137160"/>
            <a:ext cx="7132320" cy="7132320"/>
          </a:xfrm>
          <a:prstGeom prst="ellipse">
            <a:avLst/>
          </a:prstGeom>
          <a:ln w="15240">
            <a:solidFill>
              <a:srgbClr val="1C7293">
                <a:alpha val="33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2860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731520" y="32004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6035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Ismail Musa Hamid  —  BME VIK EET  ×  HUN-REN EK-MFA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of Piezoelectric Vibroacoustic MEMS Sensors for Fully Implantable Cochlear Implants</dc:title>
  <dc:subject>PptxGenJS Presentation</dc:subject>
  <dc:creator>Ismail Musa Hamid</dc:creator>
  <cp:lastModifiedBy>Ismail Musa Hamid</cp:lastModifiedBy>
  <cp:revision>1</cp:revision>
  <dcterms:created xsi:type="dcterms:W3CDTF">2026-07-01T20:24:22Z</dcterms:created>
  <dcterms:modified xsi:type="dcterms:W3CDTF">2026-07-01T20:24:22Z</dcterms:modified>
</cp:coreProperties>
</file>